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  <p:sldMasterId id="2147483650" r:id="rId4"/>
    <p:sldMasterId id="2147483651" r:id="rId5"/>
    <p:sldMasterId id="2147483652" r:id="rId6"/>
    <p:sldMasterId id="2147483653" r:id="rId7"/>
    <p:sldMasterId id="2147483654" r:id="rId8"/>
    <p:sldMasterId id="2147483655" r:id="rId9"/>
    <p:sldMasterId id="2147483656" r:id="rId10"/>
    <p:sldMasterId id="2147483659" r:id="rId11"/>
    <p:sldMasterId id="2147483660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CADD3D9-D2FE-4A2A-BD81-3D30799407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C6BC78C-C404-4600-B212-38CB21592F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72373C-E557-444E-ABE7-F8422F54EAE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B99BDD-19AF-4F69-895F-457DA62EDCB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CE5F67-FBD0-4CDD-8E66-90C69405861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0C474B-25B1-44F5-AC08-12F1F4E1D22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3E8FF2-5A10-4F2E-94C5-92370218BC7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B51C2DD-CDC6-4ECC-BC9C-76906B083C5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E2B644-78AE-4EC2-A5D8-FCDEDCEA96B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8522CA-57BE-4FBA-8191-60704C1221B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D6F0511-37E3-409C-8358-E7AACD0D468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  <p:sldLayoutId id="2147483658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44B8F7-3307-4425-8ECE-5F7AF8EB41E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03638B-E45B-451F-B65C-780F6F27CC1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136800"/>
          </a:xfrm>
          <a:prstGeom prst="rect">
            <a:avLst/>
          </a:prstGeom>
          <a:solidFill>
            <a:srgbClr val="99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914400" y="2011680"/>
            <a:ext cx="103323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Technical University of Denmark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914400" y="2423160"/>
            <a:ext cx="103323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Department of Health Technology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914400" y="3200400"/>
            <a:ext cx="1033236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990000"/>
                </a:solidFill>
                <a:latin typeface="Calibri"/>
              </a:rPr>
              <a:t>Sense-making of</a:t>
            </a:r>
            <a:br>
              <a:rPr sz="4000"/>
            </a:br>
            <a:r>
              <a:rPr b="1" lang="en-US" sz="4000" spc="-1" strike="noStrike">
                <a:solidFill>
                  <a:srgbClr val="990000"/>
                </a:solidFill>
                <a:latin typeface="Calibri"/>
              </a:rPr>
              <a:t>Raw Mobile Sensing Data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914400" y="4389120"/>
            <a:ext cx="1033236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2c5f8a"/>
                </a:solidFill>
                <a:latin typeface="Calibri"/>
              </a:rPr>
              <a:t>Mobile Sensing at UbiComp/ISWC 2025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914400" y="5212080"/>
            <a:ext cx="103323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Miklos Havlik  (s240069)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914400" y="5577840"/>
            <a:ext cx="103323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Supervisors: Jakob Eyvind Bardram  |  Nigel Sjolin Grech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914400" y="6035040"/>
            <a:ext cx="103323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March 2026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Rectangle 9"/>
          <p:cNvSpPr/>
          <p:nvPr/>
        </p:nvSpPr>
        <p:spPr>
          <a:xfrm>
            <a:off x="0" y="6720840"/>
            <a:ext cx="12191400" cy="136800"/>
          </a:xfrm>
          <a:prstGeom prst="rect">
            <a:avLst/>
          </a:prstGeom>
          <a:solidFill>
            <a:srgbClr val="99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99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731520" y="228600"/>
            <a:ext cx="100580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990000"/>
                </a:solidFill>
                <a:latin typeface="Calibri"/>
              </a:rPr>
              <a:t>Background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ectangle 3"/>
          <p:cNvSpPr/>
          <p:nvPr/>
        </p:nvSpPr>
        <p:spPr>
          <a:xfrm>
            <a:off x="731520" y="868680"/>
            <a:ext cx="10698120" cy="18000"/>
          </a:xfrm>
          <a:prstGeom prst="rect">
            <a:avLst/>
          </a:prstGeom>
          <a:solidFill>
            <a:srgbClr val="ccccc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914400" y="2302560"/>
            <a:ext cx="10698120" cy="24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UbiComp/ISWC 2025 — Aalto University, Espoo, Finland (Oct 12–16, 2025)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Premier venue for ubiquitous, pervasive, and wearable computing research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UbiLife study: mobile sensing data from ~82 participants during the conference (Oct 9–29)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Data collected via the CARP mobile sensing app on participants’ smartphones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Dataset: &gt;1 million records across 15 data streams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Streams include: step count, activity recognition, location, battery, screen events, heartbeat, weather, air quality, and self-reported surveys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Goal: understand movement, behavior, and wellbeing during an academic conference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99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731520" y="228600"/>
            <a:ext cx="100580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990000"/>
                </a:solidFill>
                <a:latin typeface="Calibri"/>
              </a:rPr>
              <a:t>Data Streams Overview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Rectangle 3"/>
          <p:cNvSpPr/>
          <p:nvPr/>
        </p:nvSpPr>
        <p:spPr>
          <a:xfrm>
            <a:off x="731520" y="868680"/>
            <a:ext cx="10698120" cy="18000"/>
          </a:xfrm>
          <a:prstGeom prst="rect">
            <a:avLst/>
          </a:prstGeom>
          <a:solidFill>
            <a:srgbClr val="ccccc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77" name="Table 4"/>
          <p:cNvGraphicFramePr/>
          <p:nvPr/>
        </p:nvGraphicFramePr>
        <p:xfrm>
          <a:off x="3789000" y="1163880"/>
          <a:ext cx="4571280" cy="5028840"/>
        </p:xfrm>
        <a:graphic>
          <a:graphicData uri="http://schemas.openxmlformats.org/drawingml/2006/table">
            <a:tbl>
              <a:tblPr/>
              <a:tblGrid>
                <a:gridCol w="1523880"/>
                <a:gridCol w="1523880"/>
                <a:gridCol w="152388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Data Stream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Records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Participants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Step count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447,625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79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Heartbeat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204,811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81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Activity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199,336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78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Location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133,082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80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Battery state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18,119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61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Screen events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5,657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22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Weather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3,854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67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Air quality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3,837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67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Triggered tasks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11,795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82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Survey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765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59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1" descr="01_stream_overview.png"/>
          <p:cNvPicPr/>
          <p:nvPr/>
        </p:nvPicPr>
        <p:blipFill>
          <a:blip r:embed="rId1"/>
          <a:stretch/>
        </p:blipFill>
        <p:spPr>
          <a:xfrm>
            <a:off x="436680" y="1941840"/>
            <a:ext cx="11450520" cy="4001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2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99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1"/>
          <p:cNvSpPr/>
          <p:nvPr/>
        </p:nvSpPr>
        <p:spPr>
          <a:xfrm>
            <a:off x="731520" y="228600"/>
            <a:ext cx="100580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990000"/>
                </a:solidFill>
                <a:latin typeface="Calibri"/>
              </a:rPr>
              <a:t>Records per Participant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ctangle 4"/>
          <p:cNvSpPr/>
          <p:nvPr/>
        </p:nvSpPr>
        <p:spPr>
          <a:xfrm>
            <a:off x="731520" y="868680"/>
            <a:ext cx="10698120" cy="18000"/>
          </a:xfrm>
          <a:prstGeom prst="rect">
            <a:avLst/>
          </a:prstGeom>
          <a:solidFill>
            <a:srgbClr val="ccccc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8001000" y="2850840"/>
            <a:ext cx="3886200" cy="12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Large spread in data contribution across participants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Step count: ranges from &lt;1,000 to &gt;30,000 entries per person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Picture 2" descr="01_records_per_participant.png"/>
          <p:cNvPicPr/>
          <p:nvPr/>
        </p:nvPicPr>
        <p:blipFill>
          <a:blip r:embed="rId1"/>
          <a:stretch/>
        </p:blipFill>
        <p:spPr>
          <a:xfrm>
            <a:off x="685800" y="1600200"/>
            <a:ext cx="7269480" cy="4120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99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731520" y="228600"/>
            <a:ext cx="100580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990000"/>
                </a:solidFill>
                <a:latin typeface="Calibri"/>
              </a:rPr>
              <a:t>Temporal Coverage — Heartbeat Heatmap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ectangle 3"/>
          <p:cNvSpPr/>
          <p:nvPr/>
        </p:nvSpPr>
        <p:spPr>
          <a:xfrm>
            <a:off x="731520" y="868680"/>
            <a:ext cx="10698120" cy="18000"/>
          </a:xfrm>
          <a:prstGeom prst="rect">
            <a:avLst/>
          </a:prstGeom>
          <a:solidFill>
            <a:srgbClr val="ccccc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7543800" y="2683080"/>
            <a:ext cx="4343400" cy="152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Data collection: Oct 9–29; main conference: Oct 13–17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Mean heartbeat coverage during conference: 33.4%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Night hours (00:00–06:00) show consistently lower coverage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Picture 5" descr="01_heartbeat_coverage.png"/>
          <p:cNvPicPr/>
          <p:nvPr/>
        </p:nvPicPr>
        <p:blipFill>
          <a:blip r:embed="rId1"/>
          <a:stretch/>
        </p:blipFill>
        <p:spPr>
          <a:xfrm>
            <a:off x="731520" y="1601824"/>
            <a:ext cx="6583680" cy="4176351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99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731520" y="228600"/>
            <a:ext cx="100580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990000"/>
                </a:solidFill>
                <a:latin typeface="Calibri"/>
              </a:rPr>
              <a:t>Activity Recognition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angle 3"/>
          <p:cNvSpPr/>
          <p:nvPr/>
        </p:nvSpPr>
        <p:spPr>
          <a:xfrm>
            <a:off x="731520" y="868680"/>
            <a:ext cx="10698120" cy="18000"/>
          </a:xfrm>
          <a:prstGeom prst="rect">
            <a:avLst/>
          </a:prstGeom>
          <a:solidFill>
            <a:srgbClr val="ccccc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731520" y="1097280"/>
            <a:ext cx="5486040" cy="161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Five activity types: STILL, WALKING, IN_VEHICLE, RUNNING, ON_BICYCLE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STILL dominates nighttime (00:00–06:00)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WALKING peaks during conference hours (09:00–18:00)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Picture 5" descr="01_activity_types.png"/>
          <p:cNvPicPr/>
          <p:nvPr/>
        </p:nvPicPr>
        <p:blipFill>
          <a:blip r:embed="rId1"/>
          <a:stretch/>
        </p:blipFill>
        <p:spPr>
          <a:xfrm>
            <a:off x="731520" y="2651760"/>
            <a:ext cx="10698120" cy="375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99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731520" y="228600"/>
            <a:ext cx="100580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990000"/>
                </a:solidFill>
                <a:latin typeface="Calibri"/>
              </a:rPr>
              <a:t>Device Diversity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ectangle 3"/>
          <p:cNvSpPr/>
          <p:nvPr/>
        </p:nvSpPr>
        <p:spPr>
          <a:xfrm>
            <a:off x="731520" y="868680"/>
            <a:ext cx="10698120" cy="18000"/>
          </a:xfrm>
          <a:prstGeom prst="rect">
            <a:avLst/>
          </a:prstGeom>
          <a:solidFill>
            <a:srgbClr val="ccccc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4"/>
          <p:cNvSpPr/>
          <p:nvPr/>
        </p:nvSpPr>
        <p:spPr>
          <a:xfrm>
            <a:off x="731520" y="1342800"/>
            <a:ext cx="5486040" cy="71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Both iOS and Android platforms represented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Manufacturers: Apple, Samsung, Google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5" descr="01_devices.png"/>
          <p:cNvPicPr/>
          <p:nvPr/>
        </p:nvPicPr>
        <p:blipFill>
          <a:blip r:embed="rId1"/>
          <a:stretch/>
        </p:blipFill>
        <p:spPr>
          <a:xfrm>
            <a:off x="731880" y="2633400"/>
            <a:ext cx="10698120" cy="3310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Table 5"/>
          <p:cNvGraphicFramePr/>
          <p:nvPr/>
        </p:nvGraphicFramePr>
        <p:xfrm>
          <a:off x="2217960" y="1725840"/>
          <a:ext cx="7225560" cy="4334760"/>
        </p:xfrm>
        <a:graphic>
          <a:graphicData uri="http://schemas.openxmlformats.org/drawingml/2006/table">
            <a:tbl>
              <a:tblPr/>
              <a:tblGrid>
                <a:gridCol w="2408760"/>
                <a:gridCol w="2408760"/>
                <a:gridCol w="2408040"/>
              </a:tblGrid>
              <a:tr h="542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Survey Type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Submitted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Participants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990000"/>
                    </a:solidFill>
                  </a:tcPr>
                </a:tc>
              </a:tr>
              <a:tr h="542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Daily stress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70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36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42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Daily sleep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64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36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42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Onboarding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39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38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42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BFI-10 (Big Five)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44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42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42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WHO-5 (wellbeing)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37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37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42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Session ratings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129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7–30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39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Keynote ratings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76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18–35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0" name="TextBox 12"/>
          <p:cNvSpPr/>
          <p:nvPr/>
        </p:nvSpPr>
        <p:spPr>
          <a:xfrm>
            <a:off x="731520" y="260280"/>
            <a:ext cx="100580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990000"/>
                </a:solidFill>
                <a:latin typeface="Calibri"/>
              </a:rPr>
              <a:t>Survey Overview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ectangle 6"/>
          <p:cNvSpPr/>
          <p:nvPr/>
        </p:nvSpPr>
        <p:spPr>
          <a:xfrm>
            <a:off x="731520" y="900360"/>
            <a:ext cx="10698120" cy="18000"/>
          </a:xfrm>
          <a:prstGeom prst="rect">
            <a:avLst/>
          </a:prstGeom>
          <a:solidFill>
            <a:srgbClr val="ccccc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99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731520" y="228600"/>
            <a:ext cx="100580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990000"/>
                </a:solidFill>
                <a:latin typeface="Calibri"/>
              </a:rPr>
              <a:t>Survey Overview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Rectangle 3"/>
          <p:cNvSpPr/>
          <p:nvPr/>
        </p:nvSpPr>
        <p:spPr>
          <a:xfrm>
            <a:off x="731520" y="868680"/>
            <a:ext cx="10698120" cy="18000"/>
          </a:xfrm>
          <a:prstGeom prst="rect">
            <a:avLst/>
          </a:prstGeom>
          <a:solidFill>
            <a:srgbClr val="ccccc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5" name="Picture 6" descr="01_survey_overview.png"/>
          <p:cNvPicPr/>
          <p:nvPr/>
        </p:nvPicPr>
        <p:blipFill>
          <a:blip r:embed="rId1"/>
          <a:stretch/>
        </p:blipFill>
        <p:spPr>
          <a:xfrm>
            <a:off x="457200" y="1829880"/>
            <a:ext cx="11055960" cy="3885120"/>
          </a:xfrm>
          <a:prstGeom prst="rect">
            <a:avLst/>
          </a:prstGeom>
          <a:ln w="0">
            <a:noFill/>
          </a:ln>
        </p:spPr>
      </p:pic>
      <p:sp>
        <p:nvSpPr>
          <p:cNvPr id="106" name="TextBox 4"/>
          <p:cNvSpPr/>
          <p:nvPr/>
        </p:nvSpPr>
        <p:spPr>
          <a:xfrm>
            <a:off x="1143360" y="4800600"/>
            <a:ext cx="5028840" cy="98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711 survey triggers, 561 submitted (78.9% completion)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Submissions peaked Oct 14–16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99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731520" y="228600"/>
            <a:ext cx="100580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990000"/>
                </a:solidFill>
                <a:latin typeface="Calibri"/>
              </a:rPr>
              <a:t>Demographics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ectangle 3"/>
          <p:cNvSpPr/>
          <p:nvPr/>
        </p:nvSpPr>
        <p:spPr>
          <a:xfrm>
            <a:off x="731520" y="868680"/>
            <a:ext cx="10698120" cy="18000"/>
          </a:xfrm>
          <a:prstGeom prst="rect">
            <a:avLst/>
          </a:prstGeom>
          <a:solidFill>
            <a:srgbClr val="ccccc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685800" y="2485440"/>
            <a:ext cx="5028840" cy="23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38 participants with valid age data (median 30, range 23–58)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Gender: 58% male, 42% female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Roles: 58% students, 21% professors, 16% postdocs, 5% researchers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58% attending UbiComp for the first time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23.7% had attended 4–6 previous editions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Picture 5" descr="01_demographics.png"/>
          <p:cNvPicPr/>
          <p:nvPr/>
        </p:nvPicPr>
        <p:blipFill>
          <a:blip r:embed="rId1"/>
          <a:stretch/>
        </p:blipFill>
        <p:spPr>
          <a:xfrm>
            <a:off x="5675040" y="1600200"/>
            <a:ext cx="5983560" cy="4114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99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731520" y="228600"/>
            <a:ext cx="100580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990000"/>
                </a:solidFill>
                <a:latin typeface="Calibri"/>
              </a:rPr>
              <a:t>Wellbeing (WHO-5) &amp; Personality (BFI-10)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ectangle 3"/>
          <p:cNvSpPr/>
          <p:nvPr/>
        </p:nvSpPr>
        <p:spPr>
          <a:xfrm>
            <a:off x="731520" y="868680"/>
            <a:ext cx="10698120" cy="18000"/>
          </a:xfrm>
          <a:prstGeom prst="rect">
            <a:avLst/>
          </a:prstGeom>
          <a:solidFill>
            <a:srgbClr val="ccccc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731520" y="1097280"/>
            <a:ext cx="50288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c5f8a"/>
                </a:solidFill>
                <a:latin typeface="Calibri"/>
              </a:rPr>
              <a:t>WHO-5 Well-Being Index (n=37)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5"/>
          <p:cNvSpPr/>
          <p:nvPr/>
        </p:nvSpPr>
        <p:spPr>
          <a:xfrm>
            <a:off x="731520" y="1554480"/>
            <a:ext cx="5028840" cy="9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Scores: 28%–84%, median 60%, mean 57.4%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27.0% below 50% depression-risk threshold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(vs. 15–20% in general population)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6"/>
          <p:cNvSpPr/>
          <p:nvPr/>
        </p:nvSpPr>
        <p:spPr>
          <a:xfrm>
            <a:off x="5943600" y="1097280"/>
            <a:ext cx="54860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c5f8a"/>
                </a:solidFill>
                <a:latin typeface="Calibri"/>
              </a:rPr>
              <a:t>BFI-10 Personality (n=42, scale 0–4)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Picture 8" descr="01_who5_bfi10.png"/>
          <p:cNvPicPr/>
          <p:nvPr/>
        </p:nvPicPr>
        <p:blipFill>
          <a:blip r:embed="rId1"/>
          <a:stretch/>
        </p:blipFill>
        <p:spPr>
          <a:xfrm>
            <a:off x="1143000" y="2971800"/>
            <a:ext cx="10058400" cy="3526560"/>
          </a:xfrm>
          <a:prstGeom prst="rect">
            <a:avLst/>
          </a:prstGeom>
          <a:ln w="0">
            <a:noFill/>
          </a:ln>
        </p:spPr>
      </p:pic>
      <p:sp>
        <p:nvSpPr>
          <p:cNvPr id="119" name="TextBox 7"/>
          <p:cNvSpPr/>
          <p:nvPr/>
        </p:nvSpPr>
        <p:spPr>
          <a:xfrm>
            <a:off x="5898240" y="1600200"/>
            <a:ext cx="6217560" cy="17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Conscientiousness highest (2.74) — typical for academics (ref 2.5-2.8)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Neuroticism lowest (1.92) but widest spread (ref 2.0-2.5)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  <a:ea typeface="Noto Sans CJK SC"/>
              </a:rPr>
              <a:t>•  </a:t>
            </a:r>
            <a:r>
              <a:rPr b="0" lang="en-US" sz="1400" spc="-1" strike="noStrike">
                <a:solidFill>
                  <a:srgbClr val="333333"/>
                </a:solidFill>
                <a:latin typeface="Calibri"/>
                <a:ea typeface="Noto Sans CJK SC"/>
              </a:rPr>
              <a:t>Moderate extraversion (2.07) (ref 2.3 – 2.7)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Agreeableness (2.68) (ref 2.5-2.8)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Openness (2.42) (ref 2.5-3.0)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99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TextBox 2"/>
          <p:cNvSpPr/>
          <p:nvPr/>
        </p:nvSpPr>
        <p:spPr>
          <a:xfrm>
            <a:off x="731520" y="228600"/>
            <a:ext cx="100580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990000"/>
                </a:solidFill>
                <a:latin typeface="Calibri"/>
              </a:rPr>
              <a:t>Daily Stress &amp; Sleep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Rectangle 3"/>
          <p:cNvSpPr/>
          <p:nvPr/>
        </p:nvSpPr>
        <p:spPr>
          <a:xfrm>
            <a:off x="731520" y="868680"/>
            <a:ext cx="10698120" cy="18000"/>
          </a:xfrm>
          <a:prstGeom prst="rect">
            <a:avLst/>
          </a:prstGeom>
          <a:solidFill>
            <a:srgbClr val="ccccc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4"/>
          <p:cNvSpPr/>
          <p:nvPr/>
        </p:nvSpPr>
        <p:spPr>
          <a:xfrm>
            <a:off x="731520" y="1097280"/>
            <a:ext cx="50288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c5f8a"/>
                </a:solidFill>
                <a:latin typeface="Calibri"/>
              </a:rPr>
              <a:t>Stress (70 responses, 36 participants)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5"/>
          <p:cNvSpPr/>
          <p:nvPr/>
        </p:nvSpPr>
        <p:spPr>
          <a:xfrm>
            <a:off x="731520" y="1554480"/>
            <a:ext cx="502884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Scale 0–10; median 4.0, mean 4.3 — moderate overall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6"/>
          <p:cNvSpPr/>
          <p:nvPr/>
        </p:nvSpPr>
        <p:spPr>
          <a:xfrm>
            <a:off x="6217920" y="1097280"/>
            <a:ext cx="548604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c5f8a"/>
                </a:solidFill>
                <a:latin typeface="Calibri"/>
              </a:rPr>
              <a:t>Sleep (64 responses)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7"/>
          <p:cNvSpPr/>
          <p:nvPr/>
        </p:nvSpPr>
        <p:spPr>
          <a:xfrm>
            <a:off x="6217920" y="1554480"/>
            <a:ext cx="5486040" cy="9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51.6% reported "Good" quality, but ...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43.8% slept fewer than 6 hours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Only 4.7% got more than 8 hours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Picture 8" descr="01_daily_surveys.png"/>
          <p:cNvPicPr/>
          <p:nvPr/>
        </p:nvPicPr>
        <p:blipFill>
          <a:blip r:embed="rId1"/>
          <a:stretch/>
        </p:blipFill>
        <p:spPr>
          <a:xfrm>
            <a:off x="457200" y="2926080"/>
            <a:ext cx="11246760" cy="344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99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2"/>
          <p:cNvSpPr/>
          <p:nvPr/>
        </p:nvSpPr>
        <p:spPr>
          <a:xfrm>
            <a:off x="731520" y="228600"/>
            <a:ext cx="100580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990000"/>
                </a:solidFill>
                <a:latin typeface="Calibri"/>
              </a:rPr>
              <a:t>Data Preparation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Rectangle 3"/>
          <p:cNvSpPr/>
          <p:nvPr/>
        </p:nvSpPr>
        <p:spPr>
          <a:xfrm>
            <a:off x="731520" y="868680"/>
            <a:ext cx="10698120" cy="18000"/>
          </a:xfrm>
          <a:prstGeom prst="rect">
            <a:avLst/>
          </a:prstGeom>
          <a:solidFill>
            <a:srgbClr val="ccccc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TextBox 4"/>
          <p:cNvSpPr/>
          <p:nvPr/>
        </p:nvSpPr>
        <p:spPr>
          <a:xfrm>
            <a:off x="731520" y="1188720"/>
            <a:ext cx="1069812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2c5f8a"/>
                </a:solidFill>
                <a:latin typeface="Calibri"/>
              </a:rPr>
              <a:t>1.  Filtering to Conference Period (Oct 13–16)</a:t>
            </a:r>
            <a:endParaRPr b="0" lang="en-US" sz="2200" spc="-1" strike="noStrike">
              <a:solidFill>
                <a:srgbClr val="2c5f8a"/>
              </a:solidFill>
              <a:latin typeface="Arial"/>
            </a:endParaRPr>
          </a:p>
        </p:txBody>
      </p:sp>
      <p:sp>
        <p:nvSpPr>
          <p:cNvPr id="132" name="TextBox 5"/>
          <p:cNvSpPr/>
          <p:nvPr/>
        </p:nvSpPr>
        <p:spPr>
          <a:xfrm>
            <a:off x="1097280" y="1645920"/>
            <a:ext cx="10058040" cy="71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Screen events kept 99.1%, step count 87.9%, activity 83.3%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Location 70.0%, ambient light 64.0%, heartbeat 51.9%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6"/>
          <p:cNvSpPr/>
          <p:nvPr/>
        </p:nvSpPr>
        <p:spPr>
          <a:xfrm>
            <a:off x="731520" y="2743200"/>
            <a:ext cx="1069812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2c5f8a"/>
                </a:solidFill>
                <a:latin typeface="Calibri"/>
              </a:rPr>
              <a:t>2.  Step-Count Processing</a:t>
            </a:r>
            <a:endParaRPr b="0" lang="en-US" sz="2200" spc="-1" strike="noStrike">
              <a:solidFill>
                <a:srgbClr val="2c5f8a"/>
              </a:solidFill>
              <a:latin typeface="Arial"/>
            </a:endParaRPr>
          </a:p>
        </p:txBody>
      </p:sp>
      <p:sp>
        <p:nvSpPr>
          <p:cNvPr id="134" name="TextBox 7"/>
          <p:cNvSpPr/>
          <p:nvPr/>
        </p:nvSpPr>
        <p:spPr>
          <a:xfrm>
            <a:off x="1097280" y="3200400"/>
            <a:ext cx="10058040" cy="71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Raw cumulative pedometer → per-interval step deltas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Clip negative values (counter resets) to zero; fill NaN with zero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8"/>
          <p:cNvSpPr/>
          <p:nvPr/>
        </p:nvSpPr>
        <p:spPr>
          <a:xfrm>
            <a:off x="731520" y="4206240"/>
            <a:ext cx="1069812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2c5f8a"/>
                </a:solidFill>
                <a:latin typeface="Calibri"/>
              </a:rPr>
              <a:t>3.  Survey Parsing</a:t>
            </a:r>
            <a:endParaRPr b="0" lang="en-US" sz="2200" spc="-1" strike="noStrike">
              <a:solidFill>
                <a:srgbClr val="2c5f8a"/>
              </a:solidFill>
              <a:latin typeface="Arial"/>
            </a:endParaRPr>
          </a:p>
        </p:txBody>
      </p:sp>
      <p:sp>
        <p:nvSpPr>
          <p:cNvPr id="136" name="TextBox 9"/>
          <p:cNvSpPr/>
          <p:nvPr/>
        </p:nvSpPr>
        <p:spPr>
          <a:xfrm>
            <a:off x="1097280" y="4663440"/>
            <a:ext cx="1005804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Raw JSON columns with nested answer structures → clean typed columns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Custom parsers for each survey type: onboarding, stress, sleep, WHO-5, BFI-10, event ratings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WHO-5: five items (0–5) → raw sum × 4 = percentage score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BFI-10: ten items with reverse coding → five personality trait scores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99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TextBox 2"/>
          <p:cNvSpPr/>
          <p:nvPr/>
        </p:nvSpPr>
        <p:spPr>
          <a:xfrm>
            <a:off x="731520" y="228600"/>
            <a:ext cx="100580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990000"/>
                </a:solidFill>
                <a:latin typeface="Calibri"/>
              </a:rPr>
              <a:t>Processed Outputs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ectangle 3"/>
          <p:cNvSpPr/>
          <p:nvPr/>
        </p:nvSpPr>
        <p:spPr>
          <a:xfrm>
            <a:off x="731520" y="868680"/>
            <a:ext cx="10698120" cy="18000"/>
          </a:xfrm>
          <a:prstGeom prst="rect">
            <a:avLst/>
          </a:prstGeom>
          <a:solidFill>
            <a:srgbClr val="ccccc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731520" y="1097280"/>
            <a:ext cx="106981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c5f8a"/>
                </a:solidFill>
                <a:latin typeface="Calibri"/>
              </a:rPr>
              <a:t>~22 MB across 17 Parquet files</a:t>
            </a:r>
            <a:endParaRPr b="0" lang="en-US" sz="2000" spc="-1" strike="noStrike">
              <a:solidFill>
                <a:srgbClr val="2c5f8a"/>
              </a:solidFill>
              <a:latin typeface="Arial"/>
            </a:endParaRPr>
          </a:p>
        </p:txBody>
      </p:sp>
      <p:sp>
        <p:nvSpPr>
          <p:cNvPr id="141" name="TextBox 5"/>
          <p:cNvSpPr/>
          <p:nvPr/>
        </p:nvSpPr>
        <p:spPr>
          <a:xfrm>
            <a:off x="731520" y="1691640"/>
            <a:ext cx="5028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990000"/>
                </a:solidFill>
                <a:latin typeface="Calibri"/>
              </a:rPr>
              <a:t>Sensor Data (9 files)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2" name="Table 6"/>
          <p:cNvGraphicFramePr/>
          <p:nvPr/>
        </p:nvGraphicFramePr>
        <p:xfrm>
          <a:off x="731520" y="2103120"/>
          <a:ext cx="5028120" cy="3101040"/>
        </p:xfrm>
        <a:graphic>
          <a:graphicData uri="http://schemas.openxmlformats.org/drawingml/2006/table">
            <a:tbl>
              <a:tblPr/>
              <a:tblGrid>
                <a:gridCol w="1676160"/>
                <a:gridCol w="1676160"/>
                <a:gridCol w="1676160"/>
              </a:tblGrid>
              <a:tr h="299160"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Rows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Participants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</a:tr>
              <a:tr h="282240"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stepcount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393,300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77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282240"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activity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166,047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77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2240"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location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93,209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78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282240"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heartbeat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106,244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80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2240"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weather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3,050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65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4776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airquality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3,033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65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76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batterystate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13,263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58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4776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screenevent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5606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76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ambientlight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1,993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19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143" name="TextBox 7"/>
          <p:cNvSpPr/>
          <p:nvPr/>
        </p:nvSpPr>
        <p:spPr>
          <a:xfrm>
            <a:off x="6217920" y="1691640"/>
            <a:ext cx="54860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990000"/>
                </a:solidFill>
                <a:latin typeface="Calibri"/>
              </a:rPr>
              <a:t>Survey Data (6 files)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4" name="Table 8"/>
          <p:cNvGraphicFramePr/>
          <p:nvPr/>
        </p:nvGraphicFramePr>
        <p:xfrm>
          <a:off x="6217920" y="2103120"/>
          <a:ext cx="5028120" cy="2697120"/>
        </p:xfrm>
        <a:graphic>
          <a:graphicData uri="http://schemas.openxmlformats.org/drawingml/2006/table">
            <a:tbl>
              <a:tblPr/>
              <a:tblGrid>
                <a:gridCol w="1676160"/>
                <a:gridCol w="1676160"/>
                <a:gridCol w="1676160"/>
              </a:tblGrid>
              <a:tr h="385560"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Rows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Participants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990000"/>
                    </a:solidFill>
                  </a:tcPr>
                </a:tc>
              </a:tr>
              <a:tr h="385560"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survey_onboarding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38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38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85560"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survey_daily_stress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70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36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5560"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survey_daily_sleep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64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36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85560"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survey_who5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37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37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5560"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survey_bfi10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42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42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84120"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survey_event_ratings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205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333333"/>
                          </a:solidFill>
                          <a:latin typeface="Calibri"/>
                        </a:rPr>
                        <a:t>38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5" name="TextBox 9"/>
          <p:cNvSpPr/>
          <p:nvPr/>
        </p:nvSpPr>
        <p:spPr>
          <a:xfrm>
            <a:off x="731520" y="5486400"/>
            <a:ext cx="10698120" cy="6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All sensor tables share common metadata: participant_id, timestamp, sequenceId, studyDeploymentId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Survey tables use cleaned snake_case column names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990000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TextBox 2"/>
          <p:cNvSpPr/>
          <p:nvPr/>
        </p:nvSpPr>
        <p:spPr>
          <a:xfrm>
            <a:off x="731520" y="228600"/>
            <a:ext cx="100580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990000"/>
                </a:solidFill>
                <a:latin typeface="Calibri"/>
              </a:rPr>
              <a:t>Data Quality Notes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ectangle 3"/>
          <p:cNvSpPr/>
          <p:nvPr/>
        </p:nvSpPr>
        <p:spPr>
          <a:xfrm>
            <a:off x="731520" y="868680"/>
            <a:ext cx="10698120" cy="18000"/>
          </a:xfrm>
          <a:prstGeom prst="rect">
            <a:avLst/>
          </a:prstGeom>
          <a:solidFill>
            <a:srgbClr val="cccccc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TextBox 4"/>
          <p:cNvSpPr/>
          <p:nvPr/>
        </p:nvSpPr>
        <p:spPr>
          <a:xfrm>
            <a:off x="1097280" y="1371600"/>
            <a:ext cx="96008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2c5f8a"/>
                </a:solidFill>
                <a:latin typeface="Calibri"/>
              </a:rPr>
              <a:t>Heartbeat gaps</a:t>
            </a:r>
            <a:endParaRPr b="0" lang="en-US" sz="2200" spc="-1" strike="noStrike">
              <a:solidFill>
                <a:srgbClr val="2c5f8a"/>
              </a:solidFill>
              <a:latin typeface="Arial"/>
            </a:endParaRPr>
          </a:p>
        </p:txBody>
      </p:sp>
      <p:sp>
        <p:nvSpPr>
          <p:cNvPr id="150" name="TextBox 5"/>
          <p:cNvSpPr/>
          <p:nvPr/>
        </p:nvSpPr>
        <p:spPr>
          <a:xfrm>
            <a:off x="1371600" y="1828800"/>
            <a:ext cx="960084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Mean coverage of 33.4% during the conference indicates frequent device disconnections. Affects reliability of keep-alive signals as a proxy for app uptime.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6"/>
          <p:cNvSpPr/>
          <p:nvPr/>
        </p:nvSpPr>
        <p:spPr>
          <a:xfrm>
            <a:off x="1097280" y="2926080"/>
            <a:ext cx="96008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2c5f8a"/>
                </a:solidFill>
                <a:latin typeface="Calibri"/>
              </a:rPr>
              <a:t>Night-time blind spots</a:t>
            </a:r>
            <a:endParaRPr b="0" lang="en-US" sz="2200" spc="-1" strike="noStrike">
              <a:solidFill>
                <a:srgbClr val="2c5f8a"/>
              </a:solidFill>
              <a:latin typeface="Arial"/>
            </a:endParaRPr>
          </a:p>
        </p:txBody>
      </p:sp>
      <p:sp>
        <p:nvSpPr>
          <p:cNvPr id="152" name="TextBox 7"/>
          <p:cNvSpPr/>
          <p:nvPr/>
        </p:nvSpPr>
        <p:spPr>
          <a:xfrm>
            <a:off x="1371600" y="3383280"/>
            <a:ext cx="960084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All sensors show ~50% lower coverage after midnight. Analyses involving overnight behavior should account for systematic missingness.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8"/>
          <p:cNvSpPr/>
          <p:nvPr/>
        </p:nvSpPr>
        <p:spPr>
          <a:xfrm>
            <a:off x="1097280" y="4480560"/>
            <a:ext cx="96008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2c5f8a"/>
                </a:solidFill>
                <a:latin typeface="Calibri"/>
              </a:rPr>
              <a:t>Per-participant variance</a:t>
            </a:r>
            <a:endParaRPr b="0" lang="en-US" sz="2200" spc="-1" strike="noStrike">
              <a:solidFill>
                <a:srgbClr val="2c5f8a"/>
              </a:solidFill>
              <a:latin typeface="Arial"/>
            </a:endParaRPr>
          </a:p>
        </p:txBody>
      </p:sp>
      <p:sp>
        <p:nvSpPr>
          <p:cNvPr id="154" name="TextBox 9"/>
          <p:cNvSpPr/>
          <p:nvPr/>
        </p:nvSpPr>
        <p:spPr>
          <a:xfrm>
            <a:off x="1371600" y="4937760"/>
            <a:ext cx="960084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Step-count records range from &lt;1,000 to &gt;30,000 across participants. Normalization or per-capita rates needed for fair cross-participant comparisons.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2026-03-24T22:42:36Z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